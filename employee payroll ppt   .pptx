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B6E618A-F880-4C97-88D1-CA168321EFE2}">
          <p14:sldIdLst>
            <p14:sldId id="256"/>
            <p14:sldId id="257"/>
            <p14:sldId id="258"/>
            <p14:sldId id="260"/>
            <p14:sldId id="261"/>
            <p14:sldId id="262"/>
            <p14:sldId id="263"/>
            <p14:sldId id="264"/>
            <p14:sldId id="265"/>
            <p14:sldId id="266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409" userDrawn="1">
          <p15:clr>
            <a:srgbClr val="A4A3A4"/>
          </p15:clr>
        </p15:guide>
        <p15:guide id="2" pos="4770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C5B6"/>
    <a:srgbClr val="6C0000"/>
    <a:srgbClr val="EADD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2" autoAdjust="0"/>
    <p:restoredTop sz="94660"/>
  </p:normalViewPr>
  <p:slideViewPr>
    <p:cSldViewPr snapToGrid="0">
      <p:cViewPr varScale="1">
        <p:scale>
          <a:sx n="73" d="100"/>
          <a:sy n="73" d="100"/>
        </p:scale>
        <p:origin x="522" y="72"/>
      </p:cViewPr>
      <p:guideLst>
        <p:guide orient="horz" pos="2409"/>
        <p:guide pos="477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8EFED-41AB-4FB8-9B41-9FE176C7551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264-5A89-42D7-82FD-65B587E97A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941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8EFED-41AB-4FB8-9B41-9FE176C7551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264-5A89-42D7-82FD-65B587E97A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074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8EFED-41AB-4FB8-9B41-9FE176C7551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264-5A89-42D7-82FD-65B587E97A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327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8EFED-41AB-4FB8-9B41-9FE176C7551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264-5A89-42D7-82FD-65B587E97A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065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8EFED-41AB-4FB8-9B41-9FE176C7551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264-5A89-42D7-82FD-65B587E97A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8701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8EFED-41AB-4FB8-9B41-9FE176C7551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264-5A89-42D7-82FD-65B587E97A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612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8EFED-41AB-4FB8-9B41-9FE176C7551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264-5A89-42D7-82FD-65B587E97A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080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8EFED-41AB-4FB8-9B41-9FE176C7551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264-5A89-42D7-82FD-65B587E97A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621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8EFED-41AB-4FB8-9B41-9FE176C7551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264-5A89-42D7-82FD-65B587E97A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454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8EFED-41AB-4FB8-9B41-9FE176C7551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264-5A89-42D7-82FD-65B587E97A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8541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B8EFED-41AB-4FB8-9B41-9FE176C7551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D8264-5A89-42D7-82FD-65B587E97A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6349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8EFED-41AB-4FB8-9B41-9FE176C75513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BD8264-5A89-42D7-82FD-65B587E97A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052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9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ounded Rectangle 30"/>
          <p:cNvSpPr/>
          <p:nvPr/>
        </p:nvSpPr>
        <p:spPr>
          <a:xfrm>
            <a:off x="2387600" y="203200"/>
            <a:ext cx="7391400" cy="11049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rgbClr val="002060"/>
                </a:solidFill>
                <a:latin typeface="Imprint MT Shadow" panose="04020605060303030202" pitchFamily="82" charset="0"/>
              </a:rPr>
              <a:t>EMPLOYEE PAYROLL SYSTEM</a:t>
            </a:r>
            <a:endParaRPr lang="en-IN" sz="3200" dirty="0">
              <a:solidFill>
                <a:srgbClr val="002060"/>
              </a:solidFill>
              <a:latin typeface="Imprint MT Shadow" panose="04020605060303030202" pitchFamily="82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30201" y="2967334"/>
            <a:ext cx="3187699" cy="240065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 </a:t>
            </a:r>
            <a:r>
              <a:rPr lang="en-US" sz="2400" i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ooper Black" panose="0208090404030B020404" pitchFamily="18" charset="0"/>
              </a:rPr>
              <a:t>PRESENTED BY:</a:t>
            </a:r>
          </a:p>
          <a:p>
            <a:pPr algn="ctr"/>
            <a:r>
              <a:rPr lang="en-US" sz="2400" i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ooper Black" panose="0208090404030B020404" pitchFamily="18" charset="0"/>
              </a:rPr>
              <a:t>SRAVANTHI</a:t>
            </a:r>
          </a:p>
          <a:p>
            <a:pPr algn="ctr"/>
            <a:r>
              <a:rPr lang="en-US" sz="2400" i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ooper Black" panose="0208090404030B020404" pitchFamily="18" charset="0"/>
              </a:rPr>
              <a:t>HARSHINI</a:t>
            </a:r>
          </a:p>
          <a:p>
            <a:pPr algn="ctr"/>
            <a:r>
              <a:rPr lang="en-US" sz="2400" i="1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ooper Black" panose="0208090404030B020404" pitchFamily="18" charset="0"/>
              </a:rPr>
              <a:t>KEERTHIKA</a:t>
            </a:r>
          </a:p>
          <a:p>
            <a:pPr algn="ctr"/>
            <a:r>
              <a:rPr lang="en-US" sz="2400" i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Cooper Black" panose="0208090404030B020404" pitchFamily="18" charset="0"/>
              </a:rPr>
              <a:t>DINESH</a:t>
            </a:r>
            <a:endParaRPr lang="en-US" sz="2400" i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2">
                  <a:lumMod val="40000"/>
                  <a:lumOff val="60000"/>
                </a:schemeClr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Cooper Black" panose="0208090404030B020404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-469900" y="5367991"/>
            <a:ext cx="758190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b="1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chemeClr val="tx2">
                    <a:lumMod val="40000"/>
                    <a:lumOff val="60000"/>
                  </a:schemeClr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Algerian" panose="04020705040A02060702" pitchFamily="82" charset="0"/>
              </a:rPr>
              <a:t>DEPARTMENT OF CSE</a:t>
            </a:r>
            <a:endParaRPr lang="en-US" sz="4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chemeClr val="tx2">
                  <a:lumMod val="40000"/>
                  <a:lumOff val="60000"/>
                </a:schemeClr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8302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0">
        <p:blinds dir="vert"/>
      </p:transition>
    </mc:Choice>
    <mc:Fallback>
      <p:transition spd="slow" advTm="0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29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64000"/>
                    </a14:imgEffect>
                    <a14:imgEffect>
                      <a14:brightnessContrast bright="-43000" contrast="2300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07002" y="449218"/>
            <a:ext cx="10374955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u="sng" dirty="0" smtClean="0">
                <a:ln w="9525">
                  <a:solidFill>
                    <a:srgbClr val="C00000"/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lgerian" panose="04020705040A02060702" pitchFamily="82" charset="0"/>
              </a:rPr>
              <a:t>OVERVIEW OF RESEARCH CONTENTS</a:t>
            </a:r>
            <a:endParaRPr lang="en-US" sz="4800" b="1" u="sng" cap="none" spc="0" dirty="0">
              <a:ln w="9525">
                <a:solidFill>
                  <a:srgbClr val="C00000"/>
                </a:solidFill>
                <a:prstDash val="solid"/>
              </a:ln>
              <a:solidFill>
                <a:schemeClr val="tx1">
                  <a:lumMod val="95000"/>
                  <a:lumOff val="5000"/>
                </a:schemeClr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14067" y="2665828"/>
            <a:ext cx="3516923" cy="555673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APPLICATIONS</a:t>
            </a:r>
            <a:endParaRPr lang="en-IN" sz="2000" dirty="0">
              <a:latin typeface="Artifakt Element Medium" panose="020B0603050000020004" pitchFamily="34" charset="0"/>
              <a:ea typeface="Artifakt Element Medium" panose="020B0603050000020004" pitchFamily="34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266092" y="1772454"/>
            <a:ext cx="4220308" cy="506437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ABSTRACT</a:t>
            </a:r>
            <a:endParaRPr lang="en-IN" sz="2000" dirty="0">
              <a:latin typeface="Artifakt Element Medium" panose="020B0603050000020004" pitchFamily="34" charset="0"/>
              <a:ea typeface="Artifakt Element Medium" panose="020B0603050000020004" pitchFamily="34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82879" y="3713740"/>
            <a:ext cx="3699803" cy="520505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DRAWBACKS</a:t>
            </a:r>
            <a:endParaRPr lang="en-IN" sz="2000" dirty="0">
              <a:latin typeface="Artifakt Element Medium" panose="020B0603050000020004" pitchFamily="34" charset="0"/>
              <a:ea typeface="Artifakt Element Medium" panose="020B0603050000020004" pitchFamily="3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60239" y="1702216"/>
            <a:ext cx="3868615" cy="534573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INTRODUCTION</a:t>
            </a:r>
            <a:endParaRPr lang="en-IN" sz="2000" dirty="0">
              <a:latin typeface="Artifakt Element Medium" panose="020B0603050000020004" pitchFamily="34" charset="0"/>
              <a:ea typeface="Artifakt Element Medium" panose="020B0603050000020004" pitchFamily="34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196774" y="2739577"/>
            <a:ext cx="3971779" cy="457390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EXISTING METHODOLOGY</a:t>
            </a:r>
            <a:endParaRPr lang="en-IN" sz="2000" dirty="0">
              <a:latin typeface="Artifakt Element Medium" panose="020B0603050000020004" pitchFamily="34" charset="0"/>
              <a:ea typeface="Artifakt Element Medium" panose="020B0603050000020004" pitchFamily="34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04911" y="4712512"/>
            <a:ext cx="3896750" cy="471348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ADVANTAGES</a:t>
            </a:r>
            <a:endParaRPr lang="en-IN" sz="2000" dirty="0">
              <a:latin typeface="Artifakt Element Medium" panose="020B0603050000020004" pitchFamily="34" charset="0"/>
              <a:ea typeface="Artifakt Element Medium" panose="020B0603050000020004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43666" y="3735328"/>
            <a:ext cx="3924887" cy="498917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PROPOSED METHODOLOGY</a:t>
            </a:r>
            <a:endParaRPr lang="en-IN" sz="2000" dirty="0">
              <a:latin typeface="Artifakt Element Medium" panose="020B0603050000020004" pitchFamily="34" charset="0"/>
              <a:ea typeface="Artifakt Element Medium" panose="020B06030500000200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498209" y="5669086"/>
            <a:ext cx="3756074" cy="506521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RESULTS</a:t>
            </a:r>
            <a:endParaRPr lang="en-IN" sz="2000" dirty="0">
              <a:latin typeface="Artifakt Element Medium" panose="020B0603050000020004" pitchFamily="34" charset="0"/>
              <a:ea typeface="Artifakt Element Medium" panose="020B0603050000020004" pitchFamily="34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724357" y="4715766"/>
            <a:ext cx="3657600" cy="520590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ARCHITECTURE</a:t>
            </a:r>
            <a:endParaRPr lang="en-IN" sz="2000" dirty="0">
              <a:latin typeface="Artifakt Element Medium" panose="020B0603050000020004" pitchFamily="34" charset="0"/>
              <a:ea typeface="Artifakt Element Medium" panose="020B0603050000020004" pitchFamily="34" charset="0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052607" y="5669086"/>
            <a:ext cx="3657601" cy="492563"/>
          </a:xfrm>
          <a:prstGeom prst="roundRect">
            <a:avLst>
              <a:gd name="adj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CONCLUSION</a:t>
            </a:r>
            <a:endParaRPr lang="en-IN" sz="2000" dirty="0">
              <a:latin typeface="Artifakt Element Medium" panose="020B0603050000020004" pitchFamily="34" charset="0"/>
              <a:ea typeface="Artifakt Element Medium" panose="020B060305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78003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2">
                <a:lumMod val="50000"/>
              </a:schemeClr>
            </a:gs>
            <a:gs pos="100000">
              <a:schemeClr val="tx2">
                <a:lumMod val="50000"/>
              </a:schemeClr>
            </a:gs>
            <a:gs pos="1000">
              <a:schemeClr val="tx1"/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Data 1"/>
          <p:cNvSpPr/>
          <p:nvPr/>
        </p:nvSpPr>
        <p:spPr>
          <a:xfrm>
            <a:off x="7511338" y="0"/>
            <a:ext cx="4380411" cy="4079631"/>
          </a:xfrm>
          <a:prstGeom prst="flowChartInputOutput">
            <a:avLst/>
          </a:prstGeom>
          <a:blipFill dpi="0" rotWithShape="1">
            <a:blip r:embed="rId2"/>
            <a:srcRect/>
            <a:stretch>
              <a:fillRect/>
            </a:stretch>
          </a:blipFill>
          <a:effectLst>
            <a:outerShdw blurRad="12700" dist="190500" dir="1200000" sx="109000" sy="109000" algn="ctr" rotWithShape="0">
              <a:srgbClr val="000000">
                <a:alpha val="75000"/>
              </a:srgbClr>
            </a:outerShdw>
            <a:reflection stA="91000" endPos="65000" dist="50800" dir="5400000" sy="-100000" algn="bl" rotWithShape="0"/>
            <a:softEdge rad="889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846292" y="702436"/>
            <a:ext cx="3071674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u="sng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ABSTRACT </a:t>
            </a:r>
            <a:endParaRPr lang="en-US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rtifakt Element Medium" panose="020B0603050000020004" pitchFamily="34" charset="0"/>
              <a:ea typeface="Artifakt Element Medium" panose="020B06030500000200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09431" y="1670798"/>
            <a:ext cx="6892121" cy="350865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ootlight MT Light" panose="0204060206030A020304" pitchFamily="18" charset="0"/>
              </a:rPr>
              <a:t>The Employee payroll System is designed to manage employee salary details , leaves applied ,and salary calculations such as HRA,DA,PF, Gross salary and Net salary.</a:t>
            </a:r>
          </a:p>
          <a:p>
            <a:pPr algn="ctr"/>
            <a:r>
              <a:rPr lang="en-US" sz="2800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ootlight MT Light" panose="0204060206030A020304" pitchFamily="18" charset="0"/>
              </a:rPr>
              <a:t>This system reduces manual work and provides faster and more accurate results.</a:t>
            </a:r>
          </a:p>
          <a:p>
            <a:pPr algn="ctr"/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82134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loud 3"/>
          <p:cNvSpPr/>
          <p:nvPr/>
        </p:nvSpPr>
        <p:spPr>
          <a:xfrm>
            <a:off x="477672" y="941696"/>
            <a:ext cx="5336274" cy="5227092"/>
          </a:xfrm>
          <a:prstGeom prst="cloud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72000"/>
                      </a14:imgEffect>
                      <a14:imgEffect>
                        <a14:brightnessContrast bright="1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solidFill>
              <a:schemeClr val="tx1">
                <a:lumMod val="95000"/>
                <a:lumOff val="5000"/>
              </a:schemeClr>
            </a:solidFill>
          </a:ln>
          <a:effectLst>
            <a:outerShdw blurRad="508000" dir="4320000" sx="128000" sy="128000" algn="ctr" rotWithShape="0">
              <a:srgbClr val="000000">
                <a:alpha val="35000"/>
              </a:srgbClr>
            </a:outerShdw>
            <a:reflection endPos="0" dir="5400000" sy="-100000" algn="bl" rotWithShape="0"/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7165075" y="1029352"/>
            <a:ext cx="433998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u="sng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2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INTRODUCTION</a:t>
            </a:r>
            <a:endParaRPr lang="en-US" sz="36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2">
                  <a:lumMod val="50000"/>
                </a:schemeClr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Artifakt Element Medium" panose="020B0603050000020004" pitchFamily="34" charset="0"/>
              <a:ea typeface="Artifakt Element Medium" panose="020B06030500000200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96168" y="2298595"/>
            <a:ext cx="5895832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ootlight MT Light" panose="0204060206030A020304" pitchFamily="18" charset="0"/>
              </a:rPr>
              <a:t>“In many organizations, handling employee salary 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ootlight MT Light" panose="0204060206030A020304" pitchFamily="18" charset="0"/>
              </a:rPr>
              <a:t>m</a:t>
            </a:r>
            <a:r>
              <a:rPr lang="en-US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ootlight MT Light" panose="0204060206030A020304" pitchFamily="18" charset="0"/>
              </a:rPr>
              <a:t>anually becomes time-consuming and</a:t>
            </a:r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ootlight MT Light" panose="0204060206030A020304" pitchFamily="18" charset="0"/>
              </a:rPr>
              <a:t> </a:t>
            </a:r>
            <a:r>
              <a:rPr 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ootlight MT Light" panose="0204060206030A020304" pitchFamily="18" charset="0"/>
              </a:rPr>
              <a:t>Error-prone.</a:t>
            </a:r>
          </a:p>
          <a:p>
            <a:pPr algn="ctr"/>
            <a:r>
              <a:rPr lang="en-US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ootlight MT Light" panose="0204060206030A020304" pitchFamily="18" charset="0"/>
              </a:rPr>
              <a:t>To solve this problem, we developed a simple </a:t>
            </a:r>
          </a:p>
          <a:p>
            <a:pPr algn="ctr"/>
            <a:r>
              <a:rPr 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ootlight MT Light" panose="0204060206030A020304" pitchFamily="18" charset="0"/>
              </a:rPr>
              <a:t>Payroll system using  C programming. It stores </a:t>
            </a:r>
            <a:r>
              <a:rPr lang="en-US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ootlight MT Light" panose="0204060206030A020304" pitchFamily="18" charset="0"/>
              </a:rPr>
              <a:t>Employee details, calculates monthly </a:t>
            </a:r>
          </a:p>
          <a:p>
            <a:pPr algn="ctr"/>
            <a:r>
              <a:rPr lang="en-US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ootlight MT Light" panose="0204060206030A020304" pitchFamily="18" charset="0"/>
              </a:rPr>
              <a:t>Salary, and manages leave information</a:t>
            </a:r>
          </a:p>
          <a:p>
            <a:pPr algn="ctr"/>
            <a:r>
              <a:rPr lang="en-US" sz="24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ootlight MT Light" panose="0204060206030A020304" pitchFamily="18" charset="0"/>
              </a:rPr>
              <a:t>Efficiently.”</a:t>
            </a:r>
          </a:p>
        </p:txBody>
      </p:sp>
    </p:spTree>
    <p:extLst>
      <p:ext uri="{BB962C8B-B14F-4D97-AF65-F5344CB8AC3E}">
        <p14:creationId xmlns:p14="http://schemas.microsoft.com/office/powerpoint/2010/main" val="3360368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1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5000"/>
                    </a14:imgEffect>
                    <a14:imgEffect>
                      <a14:saturation sat="152000"/>
                    </a14:imgEffect>
                    <a14:imgEffect>
                      <a14:brightnessContrast contrast="-18000"/>
                    </a14:imgEffect>
                  </a14:imgLayer>
                </a14:imgProps>
              </a:ext>
            </a:extLst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6-Point Star 1"/>
          <p:cNvSpPr/>
          <p:nvPr/>
        </p:nvSpPr>
        <p:spPr>
          <a:xfrm>
            <a:off x="2347416" y="709684"/>
            <a:ext cx="7410734" cy="5622877"/>
          </a:xfrm>
          <a:prstGeom prst="star6">
            <a:avLst/>
          </a:prstGeom>
          <a:blipFill>
            <a:blip r:embed="rId4"/>
            <a:tile tx="0" ty="0" sx="100000" sy="100000" flip="none" algn="tl"/>
          </a:blip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844006" y="2107526"/>
            <a:ext cx="264046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 smtClean="0">
                <a:ln w="12700">
                  <a:solidFill>
                    <a:schemeClr val="accent1"/>
                  </a:solidFill>
                  <a:prstDash val="solid"/>
                </a:ln>
                <a:effectLst>
                  <a:outerShdw dist="38100" dir="2640000" algn="bl" rotWithShape="0">
                    <a:schemeClr val="accent1"/>
                  </a:outerShdw>
                </a:effectLst>
              </a:rPr>
              <a:t>APPLICATIONS</a:t>
            </a:r>
            <a:endParaRPr lang="en-US" sz="3200" b="1" cap="none" spc="0" dirty="0">
              <a:ln w="12700">
                <a:solidFill>
                  <a:schemeClr val="accent1"/>
                </a:solidFill>
                <a:prstDash val="solid"/>
              </a:ln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56706" y="2967335"/>
            <a:ext cx="5678606" cy="163121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ootlight MT Light" panose="0204060206030A020304" pitchFamily="18" charset="0"/>
              </a:rPr>
              <a:t>This system can be used in HR departments , small </a:t>
            </a:r>
          </a:p>
          <a:p>
            <a:pPr algn="ctr"/>
            <a:r>
              <a:rPr lang="en-US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ootlight MT Light" panose="0204060206030A020304" pitchFamily="18" charset="0"/>
              </a:rPr>
              <a:t>Companies , payroll sections in organizations,</a:t>
            </a:r>
          </a:p>
          <a:p>
            <a:pPr algn="ctr"/>
            <a:r>
              <a:rPr 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ootlight MT Light" panose="0204060206030A020304" pitchFamily="18" charset="0"/>
              </a:rPr>
              <a:t>And anywhere salary processing is required.</a:t>
            </a:r>
          </a:p>
          <a:p>
            <a:pPr algn="ctr"/>
            <a:r>
              <a:rPr lang="en-US" sz="20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ootlight MT Light" panose="0204060206030A020304" pitchFamily="18" charset="0"/>
              </a:rPr>
              <a:t>It is very helpful for maintaining employee data in a </a:t>
            </a:r>
          </a:p>
          <a:p>
            <a:pPr algn="ctr"/>
            <a:r>
              <a:rPr lang="en-US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Footlight MT Light" panose="0204060206030A020304" pitchFamily="18" charset="0"/>
              </a:rPr>
              <a:t>Structured and clear way.</a:t>
            </a:r>
            <a:endParaRPr lang="en-US" sz="2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Footlight MT Light" panose="0204060206030A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208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C5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Algerian" panose="04020705040A02060702" pitchFamily="82" charset="0"/>
              </a:rPr>
              <a:t>EXISTING METHODOLOGY</a:t>
            </a:r>
            <a:endParaRPr lang="en-IN" sz="4000" dirty="0">
              <a:latin typeface="Algerian" panose="04020705040A02060702" pitchFamily="82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0218" y="2189018"/>
            <a:ext cx="4467791" cy="3255819"/>
          </a:xfrm>
          <a:solidFill>
            <a:schemeClr val="accent1">
              <a:lumMod val="50000"/>
            </a:schemeClr>
          </a:solidFill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bg1"/>
                </a:solidFill>
              </a:rPr>
              <a:t>Currently , many companies follow manual salary calculations using registers or spreadsheets .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Details like basic salary , leaves and deductions are entered manually .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This method takes more time and has a higher chance of mistakes.</a:t>
            </a: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5" name="Double Wave 4"/>
          <p:cNvSpPr/>
          <p:nvPr/>
        </p:nvSpPr>
        <p:spPr>
          <a:xfrm>
            <a:off x="5753878" y="1145686"/>
            <a:ext cx="5984032" cy="4583309"/>
          </a:xfrm>
          <a:prstGeom prst="doubleWave">
            <a:avLst/>
          </a:prstGeom>
          <a:blipFill dpi="0" rotWithShape="1">
            <a:blip r:embed="rId2"/>
            <a:srcRect/>
            <a:stretch>
              <a:fillRect/>
            </a:stretch>
          </a:blipFill>
          <a:effectLst>
            <a:outerShdw blurRad="114300" dist="304800" dir="5400000" sx="80000" sy="80000" algn="ctr" rotWithShape="0">
              <a:srgbClr val="000000">
                <a:alpha val="71000"/>
              </a:srgbClr>
            </a:outerShdw>
            <a:reflection stA="31000" endPos="26000" dir="5400000" sy="-100000" algn="bl" rotWithShape="0"/>
          </a:effectLst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798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10000"/>
            <a:alpha val="5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47098" y="1030513"/>
            <a:ext cx="5329646" cy="1105989"/>
          </a:xfrm>
          <a:ln w="19050">
            <a:solidFill>
              <a:schemeClr val="accent1">
                <a:lumMod val="50000"/>
              </a:schemeClr>
            </a:solidFill>
          </a:ln>
        </p:spPr>
        <p:txBody>
          <a:bodyPr>
            <a:normAutofit/>
          </a:bodyPr>
          <a:lstStyle/>
          <a:p>
            <a:r>
              <a:rPr lang="en-US" sz="3200"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Century Schoolbook" panose="02040604050505020304" pitchFamily="18" charset="0"/>
              </a:rPr>
              <a:t>DRAWBACKS OF EXISTING METHOD</a:t>
            </a:r>
            <a:endParaRPr lang="en-IN" sz="3200" b="1" dirty="0">
              <a:solidFill>
                <a:srgbClr val="002060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29644" y="3161210"/>
            <a:ext cx="6008915" cy="2299063"/>
          </a:xfrm>
        </p:spPr>
        <p:txBody>
          <a:bodyPr>
            <a:normAutofit/>
          </a:bodyPr>
          <a:lstStyle/>
          <a:p>
            <a:r>
              <a:rPr lang="en-US" sz="2000" dirty="0" smtClean="0">
                <a:solidFill>
                  <a:schemeClr val="bg2">
                    <a:lumMod val="10000"/>
                  </a:schemeClr>
                </a:solidFill>
              </a:rPr>
              <a:t>This existing manual method has several drawbacks such as:</a:t>
            </a:r>
          </a:p>
          <a:p>
            <a:r>
              <a:rPr lang="en-US" sz="2000" dirty="0" smtClean="0">
                <a:solidFill>
                  <a:schemeClr val="bg2">
                    <a:lumMod val="10000"/>
                  </a:schemeClr>
                </a:solidFill>
                <a:sym typeface="Wingdings" panose="05000000000000000000" pitchFamily="2" charset="2"/>
              </a:rPr>
              <a:t>More workload for HR  </a:t>
            </a:r>
          </a:p>
          <a:p>
            <a:r>
              <a:rPr lang="en-US" sz="2000" dirty="0" smtClean="0">
                <a:solidFill>
                  <a:schemeClr val="bg2">
                    <a:lumMod val="10000"/>
                  </a:schemeClr>
                </a:solidFill>
                <a:sym typeface="Wingdings" panose="05000000000000000000" pitchFamily="2" charset="2"/>
              </a:rPr>
              <a:t>Frequent calculation mistakes</a:t>
            </a:r>
          </a:p>
          <a:p>
            <a:r>
              <a:rPr lang="en-US" sz="2000" dirty="0" smtClean="0">
                <a:solidFill>
                  <a:schemeClr val="bg2">
                    <a:lumMod val="10000"/>
                  </a:schemeClr>
                </a:solidFill>
                <a:sym typeface="Wingdings" panose="05000000000000000000" pitchFamily="2" charset="2"/>
              </a:rPr>
              <a:t>No proper storage records previous salary records.</a:t>
            </a:r>
          </a:p>
          <a:p>
            <a:r>
              <a:rPr lang="en-US" sz="2000" dirty="0" smtClean="0">
                <a:solidFill>
                  <a:schemeClr val="bg2">
                    <a:lumMod val="10000"/>
                  </a:schemeClr>
                </a:solidFill>
                <a:sym typeface="Wingdings" panose="05000000000000000000" pitchFamily="2" charset="2"/>
              </a:rPr>
              <a:t>No automated leave handling</a:t>
            </a:r>
            <a:endParaRPr lang="en-IN" sz="2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5" name="Flowchart: Manual Operation 4"/>
          <p:cNvSpPr/>
          <p:nvPr/>
        </p:nvSpPr>
        <p:spPr>
          <a:xfrm>
            <a:off x="528320" y="211909"/>
            <a:ext cx="3814355" cy="3775166"/>
          </a:xfrm>
          <a:prstGeom prst="flowChartManualOperation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29000"/>
                      </a14:imgEffect>
                      <a14:imgEffect>
                        <a14:colorTemperature colorTemp="5967"/>
                      </a14:imgEffect>
                      <a14:imgEffect>
                        <a14:saturation sat="107000"/>
                      </a14:imgEffect>
                      <a14:imgEffect>
                        <a14:brightnessContrast bright="-48000" contrast="26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effectLst>
            <a:glow rad="254000">
              <a:schemeClr val="accent1">
                <a:alpha val="95000"/>
              </a:schemeClr>
            </a:glow>
            <a:reflection blurRad="127000" endPos="65000" dist="152400" dir="5400000" sy="-100000" algn="bl" rotWithShape="0"/>
            <a:softEdge rad="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076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 amt="58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oud Callout 1"/>
          <p:cNvSpPr/>
          <p:nvPr/>
        </p:nvSpPr>
        <p:spPr>
          <a:xfrm>
            <a:off x="5643154" y="862148"/>
            <a:ext cx="6548846" cy="4798424"/>
          </a:xfrm>
          <a:prstGeom prst="cloudCallout">
            <a:avLst/>
          </a:prstGeom>
          <a:blipFill dpi="0" rotWithShape="1">
            <a:blip r:embed="rId4"/>
            <a:srcRect/>
            <a:stretch>
              <a:fillRect/>
            </a:stretch>
          </a:blipFill>
          <a:effectLst>
            <a:glow rad="977900">
              <a:schemeClr val="accent1">
                <a:alpha val="94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496388" y="647338"/>
            <a:ext cx="4513943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dirty="0" smtClean="0">
                <a:ln w="0"/>
                <a:solidFill>
                  <a:schemeClr val="tx1">
                    <a:lumMod val="85000"/>
                    <a:lumOff val="1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Algerian" panose="04020705040A02060702" pitchFamily="82" charset="0"/>
              </a:rPr>
              <a:t>PROPOSED METHODOLOGY</a:t>
            </a:r>
            <a:endParaRPr lang="en-US" sz="4400" b="0" cap="none" spc="0" dirty="0">
              <a:ln w="0"/>
              <a:solidFill>
                <a:schemeClr val="tx1">
                  <a:lumMod val="85000"/>
                  <a:lumOff val="15000"/>
                </a:schemeClr>
              </a:solidFill>
              <a:effectLst>
                <a:reflection blurRad="6350" stA="53000" endA="300" endPos="35500" dir="5400000" sy="-90000" algn="bl" rotWithShape="0"/>
              </a:effectLst>
              <a:latin typeface="Algerian" panose="04020705040A02060702" pitchFamily="8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44137" y="2536261"/>
            <a:ext cx="4572000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2400" b="1" dirty="0" smtClean="0">
                <a:ln/>
                <a:solidFill>
                  <a:srgbClr val="6C0000"/>
                </a:solidFill>
                <a:latin typeface="Californian FB" panose="0207040306080B030204" pitchFamily="18" charset="0"/>
              </a:rPr>
              <a:t>In the proposed system , we automated salary calculation using C program logic.</a:t>
            </a:r>
          </a:p>
          <a:p>
            <a:pPr algn="ctr"/>
            <a:r>
              <a:rPr lang="en-US" sz="2400" b="1" cap="none" spc="0" dirty="0" smtClean="0">
                <a:ln/>
                <a:solidFill>
                  <a:srgbClr val="6C0000"/>
                </a:solidFill>
                <a:effectLst/>
                <a:latin typeface="Californian FB" panose="0207040306080B030204" pitchFamily="18" charset="0"/>
              </a:rPr>
              <a:t>We used structures to store employee details, loops to process data , and file handling to save and retrieve information.</a:t>
            </a:r>
          </a:p>
          <a:p>
            <a:pPr algn="ctr"/>
            <a:r>
              <a:rPr lang="en-US" sz="2400" b="1" dirty="0" smtClean="0">
                <a:ln/>
                <a:solidFill>
                  <a:srgbClr val="6C0000"/>
                </a:solidFill>
                <a:latin typeface="Californian FB" panose="0207040306080B030204" pitchFamily="18" charset="0"/>
              </a:rPr>
              <a:t>This makes the entire payroll process faster and more accurate.</a:t>
            </a:r>
            <a:endParaRPr lang="en-US" sz="2400" b="1" cap="none" spc="0" dirty="0">
              <a:ln/>
              <a:solidFill>
                <a:srgbClr val="6C0000"/>
              </a:solidFill>
              <a:effectLst/>
              <a:latin typeface="Californian FB" panose="0207040306080B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4613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70000"/>
                    </a14:imgEffect>
                    <a14:imgEffect>
                      <a14:saturation sat="79000"/>
                    </a14:imgEffect>
                    <a14:imgEffect>
                      <a14:brightnessContrast bright="-66000" contrast="18000"/>
                    </a14:imgEffect>
                  </a14:imgLayer>
                </a14:imgProps>
              </a:ext>
            </a:extLst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55371" y="1632857"/>
            <a:ext cx="8164286" cy="4023359"/>
          </a:xfrm>
          <a:prstGeom prst="rect">
            <a:avLst/>
          </a:prstGeom>
          <a:blipFill dpi="0" rotWithShape="1">
            <a:blip r:embed="rId4">
              <a:alphaModFix amt="47000"/>
            </a:blip>
            <a:srcRect/>
            <a:tile tx="0" ty="0" sx="100000" sy="100000" flip="none" algn="tl"/>
          </a:blipFill>
          <a:ln>
            <a:noFill/>
          </a:ln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058677" y="1922306"/>
            <a:ext cx="412689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u="sng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Copperplate Gothic Bold" panose="020E0705020206020404" pitchFamily="34" charset="0"/>
              </a:rPr>
              <a:t>ADVANTAGES</a:t>
            </a:r>
            <a:endParaRPr lang="en-US" sz="4000" b="1" u="sng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Copperplate Gothic Bold" panose="020E07050202060204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84232" y="2967335"/>
            <a:ext cx="6423553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 Antiqua" panose="02040602050305030304" pitchFamily="18" charset="0"/>
              </a:rPr>
              <a:t>The proposed method has many advantages:</a:t>
            </a:r>
          </a:p>
          <a:p>
            <a:r>
              <a:rPr lang="en-US" sz="24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 Antiqua" panose="02040602050305030304" pitchFamily="18" charset="0"/>
                <a:sym typeface="Wingdings" panose="05000000000000000000" pitchFamily="2" charset="2"/>
              </a:rPr>
              <a:t>Fast processing</a:t>
            </a:r>
          </a:p>
          <a:p>
            <a:r>
              <a:rPr lang="en-US" sz="24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 Antiqua" panose="02040602050305030304" pitchFamily="18" charset="0"/>
                <a:sym typeface="Wingdings" panose="05000000000000000000" pitchFamily="2" charset="2"/>
              </a:rPr>
              <a:t>Accurate results</a:t>
            </a:r>
          </a:p>
          <a:p>
            <a:r>
              <a:rPr lang="en-US" sz="24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 Antiqua" panose="02040602050305030304" pitchFamily="18" charset="0"/>
                <a:sym typeface="Wingdings" panose="05000000000000000000" pitchFamily="2" charset="2"/>
              </a:rPr>
              <a:t>Easy to store and retrieve data</a:t>
            </a:r>
          </a:p>
          <a:p>
            <a:r>
              <a:rPr lang="en-US" sz="24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 Antiqua" panose="02040602050305030304" pitchFamily="18" charset="0"/>
                <a:sym typeface="Wingdings" panose="05000000000000000000" pitchFamily="2" charset="2"/>
              </a:rPr>
              <a:t>Reduces human error</a:t>
            </a:r>
          </a:p>
          <a:p>
            <a:r>
              <a:rPr lang="en-US" sz="2400" b="1" dirty="0" smtClean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ook Antiqua" panose="02040602050305030304" pitchFamily="18" charset="0"/>
                <a:sym typeface="Wingdings" panose="05000000000000000000" pitchFamily="2" charset="2"/>
              </a:rPr>
              <a:t>Simple interface and easy to use</a:t>
            </a:r>
            <a:endParaRPr lang="en-US" sz="2400" b="1" dirty="0" smtClean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7670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6355" y="442686"/>
            <a:ext cx="71061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u="sng" dirty="0" smtClean="0">
                <a:solidFill>
                  <a:schemeClr val="bg1"/>
                </a:solidFill>
                <a:latin typeface="Algerian" panose="04020705040A02060702" pitchFamily="82" charset="0"/>
              </a:rPr>
              <a:t>ARCHITECTURE OF PROPOSED METHODOLOGY</a:t>
            </a:r>
            <a:endParaRPr lang="en-IN" sz="2800" b="1" u="sng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1886857" y="1799771"/>
            <a:ext cx="4403633" cy="4542972"/>
            <a:chOff x="3512458" y="1309189"/>
            <a:chExt cx="4403633" cy="4164148"/>
          </a:xfrm>
        </p:grpSpPr>
        <p:sp>
          <p:nvSpPr>
            <p:cNvPr id="3" name="Rounded Rectangle 2"/>
            <p:cNvSpPr/>
            <p:nvPr/>
          </p:nvSpPr>
          <p:spPr>
            <a:xfrm>
              <a:off x="3631475" y="1309189"/>
              <a:ext cx="4127862" cy="676365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  <a:latin typeface="Bookman Old Style" panose="02050604050505020204" pitchFamily="18" charset="0"/>
                </a:rPr>
                <a:t>First ,we take the employee inputs</a:t>
              </a:r>
              <a:endPara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endParaRPr>
            </a:p>
          </p:txBody>
        </p:sp>
        <p:sp>
          <p:nvSpPr>
            <p:cNvPr id="5" name="Down Arrow 4"/>
            <p:cNvSpPr/>
            <p:nvPr/>
          </p:nvSpPr>
          <p:spPr>
            <a:xfrm>
              <a:off x="5577841" y="1998616"/>
              <a:ext cx="522514" cy="326572"/>
            </a:xfrm>
            <a:prstGeom prst="downArrow">
              <a:avLst>
                <a:gd name="adj1" fmla="val 15000"/>
                <a:gd name="adj2" fmla="val 3400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566160" y="2296160"/>
              <a:ext cx="4271554" cy="522514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latin typeface="Bookman Old Style" panose="02050604050505020204" pitchFamily="18" charset="0"/>
                </a:rPr>
                <a:t>Calculate HRA,DA and PF</a:t>
              </a:r>
              <a:endParaRPr lang="en-IN" b="1" dirty="0">
                <a:latin typeface="Bookman Old Style" panose="02050604050505020204" pitchFamily="18" charset="0"/>
              </a:endParaRPr>
            </a:p>
          </p:txBody>
        </p:sp>
        <p:sp>
          <p:nvSpPr>
            <p:cNvPr id="8" name="Down Arrow 7"/>
            <p:cNvSpPr/>
            <p:nvPr/>
          </p:nvSpPr>
          <p:spPr>
            <a:xfrm>
              <a:off x="5599613" y="2856411"/>
              <a:ext cx="522514" cy="326572"/>
            </a:xfrm>
            <a:prstGeom prst="downArrow">
              <a:avLst>
                <a:gd name="adj1" fmla="val 15000"/>
                <a:gd name="adj2" fmla="val 3400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Down Arrow 9"/>
            <p:cNvSpPr/>
            <p:nvPr/>
          </p:nvSpPr>
          <p:spPr>
            <a:xfrm>
              <a:off x="5634448" y="3701142"/>
              <a:ext cx="522514" cy="326572"/>
            </a:xfrm>
            <a:prstGeom prst="downArrow">
              <a:avLst>
                <a:gd name="adj1" fmla="val 15000"/>
                <a:gd name="adj2" fmla="val 3400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561806" y="3196047"/>
              <a:ext cx="4271554" cy="522514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latin typeface="Bookman Old Style" panose="02050604050505020204" pitchFamily="18" charset="0"/>
                </a:rPr>
                <a:t>Apply leave deductions</a:t>
              </a:r>
              <a:endParaRPr lang="en-IN" b="1" dirty="0">
                <a:latin typeface="Bookman Old Style" panose="02050604050505020204" pitchFamily="18" charset="0"/>
              </a:endParaRP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635829" y="4027716"/>
              <a:ext cx="4271554" cy="522514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latin typeface="Bookman Old Style" panose="02050604050505020204" pitchFamily="18" charset="0"/>
                </a:rPr>
                <a:t>Compute gross and net salary</a:t>
              </a:r>
              <a:endParaRPr lang="en-IN" b="1" dirty="0">
                <a:latin typeface="Bookman Old Style" panose="02050604050505020204" pitchFamily="18" charset="0"/>
              </a:endParaRPr>
            </a:p>
          </p:txBody>
        </p:sp>
        <p:sp>
          <p:nvSpPr>
            <p:cNvPr id="13" name="Down Arrow 12"/>
            <p:cNvSpPr/>
            <p:nvPr/>
          </p:nvSpPr>
          <p:spPr>
            <a:xfrm>
              <a:off x="5656219" y="4532810"/>
              <a:ext cx="522514" cy="326572"/>
            </a:xfrm>
            <a:prstGeom prst="downArrow">
              <a:avLst>
                <a:gd name="adj1" fmla="val 15000"/>
                <a:gd name="adj2" fmla="val 3400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3512458" y="4872447"/>
              <a:ext cx="4403633" cy="600890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latin typeface="Bookman Old Style" panose="02050604050505020204" pitchFamily="18" charset="0"/>
                </a:rPr>
                <a:t>Finally store the results in a file for future reference</a:t>
              </a:r>
              <a:endParaRPr lang="en-IN" b="1" dirty="0">
                <a:latin typeface="Bookman Old Style" panose="02050604050505020204" pitchFamily="18" charset="0"/>
              </a:endParaRPr>
            </a:p>
          </p:txBody>
        </p:sp>
      </p:grpSp>
      <p:sp>
        <p:nvSpPr>
          <p:cNvPr id="16" name="Rounded Rectangle 15"/>
          <p:cNvSpPr/>
          <p:nvPr/>
        </p:nvSpPr>
        <p:spPr>
          <a:xfrm>
            <a:off x="7228114" y="943429"/>
            <a:ext cx="4455885" cy="5297714"/>
          </a:xfrm>
          <a:prstGeom prst="roundRect">
            <a:avLst>
              <a:gd name="adj" fmla="val 50000"/>
            </a:avLst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33000"/>
                      </a14:imgEffect>
                      <a14:imgEffect>
                        <a14:saturation sat="93000"/>
                      </a14:imgEffect>
                      <a14:imgEffect>
                        <a14:brightnessContrast bright="1000" contrast="25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effectLst>
            <a:glow rad="1016000">
              <a:schemeClr val="accent1">
                <a:alpha val="61000"/>
              </a:schemeClr>
            </a:glow>
          </a:effectLst>
          <a:scene3d>
            <a:camera prst="orthographicFront">
              <a:rot lat="19480517" lon="8912359" rev="2639531"/>
            </a:camera>
            <a:lightRig rig="threePt" dir="t"/>
          </a:scene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571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  <a:lumOff val="50000"/>
            <a:alpha val="9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Scroll 1"/>
          <p:cNvSpPr/>
          <p:nvPr/>
        </p:nvSpPr>
        <p:spPr>
          <a:xfrm>
            <a:off x="203199" y="580571"/>
            <a:ext cx="6139543" cy="5660572"/>
          </a:xfrm>
          <a:prstGeom prst="verticalScroll">
            <a:avLst/>
          </a:pr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25000"/>
                      </a14:imgEffect>
                      <a14:imgEffect>
                        <a14:saturation sat="177000"/>
                      </a14:imgEffect>
                      <a14:imgEffect>
                        <a14:brightnessContrast bright="-25000" contrast="33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effectLst>
            <a:glow>
              <a:schemeClr val="accent1">
                <a:alpha val="44000"/>
              </a:schemeClr>
            </a:glow>
            <a:reflection stA="40000" endPos="25000" dir="5400000" sy="-100000" algn="bl" rotWithShape="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ounded Rectangle 3"/>
          <p:cNvSpPr/>
          <p:nvPr/>
        </p:nvSpPr>
        <p:spPr>
          <a:xfrm>
            <a:off x="7628709" y="1148081"/>
            <a:ext cx="3278777" cy="5021942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  <a:ln>
            <a:solidFill>
              <a:srgbClr val="6C0000"/>
            </a:solidFill>
          </a:ln>
        </p:spPr>
        <p:style>
          <a:lnRef idx="2">
            <a:schemeClr val="dk1"/>
          </a:lnRef>
          <a:fillRef idx="1001">
            <a:schemeClr val="dk2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Flowchart: Decision 4"/>
          <p:cNvSpPr/>
          <p:nvPr/>
        </p:nvSpPr>
        <p:spPr>
          <a:xfrm>
            <a:off x="7289074" y="418011"/>
            <a:ext cx="3840480" cy="613955"/>
          </a:xfrm>
          <a:prstGeom prst="flowChartDecision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  <a:latin typeface="Algerian" panose="04020705040A02060702" pitchFamily="82" charset="0"/>
              </a:rPr>
              <a:t>RESULT</a:t>
            </a:r>
            <a:endParaRPr lang="en-IN" sz="2000" b="1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6" name="Double Brace 5"/>
          <p:cNvSpPr/>
          <p:nvPr/>
        </p:nvSpPr>
        <p:spPr>
          <a:xfrm>
            <a:off x="6675121" y="1110344"/>
            <a:ext cx="5199016" cy="5133702"/>
          </a:xfrm>
          <a:prstGeom prst="bracePair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395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  <a:alpha val="7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1654628" y="159656"/>
            <a:ext cx="9202057" cy="6495143"/>
          </a:xfrm>
          <a:prstGeom prst="ellipse">
            <a:avLst/>
          </a:prstGeom>
          <a:blipFill>
            <a:blip r:embed="rId2"/>
            <a:tile tx="0" ty="0" sx="100000" sy="100000" flip="none" algn="tl"/>
          </a:blipFill>
          <a:ln>
            <a:prstDash val="lgDashDot"/>
          </a:ln>
          <a:effectLst>
            <a:glow rad="1143000">
              <a:schemeClr val="tx2">
                <a:lumMod val="75000"/>
                <a:alpha val="43000"/>
              </a:schemeClr>
            </a:glo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978531" y="1036935"/>
            <a:ext cx="249619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Algerian" panose="04020705040A02060702" pitchFamily="82" charset="0"/>
              </a:rPr>
              <a:t>CONCLUSION</a:t>
            </a:r>
            <a:endParaRPr lang="en-US" sz="32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57714" y="2081964"/>
            <a:ext cx="7765210" cy="34163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ook Antiqua" panose="02040602050305030304" pitchFamily="18" charset="0"/>
              </a:rPr>
              <a:t>“To conclude , our employee payroll system is a simple </a:t>
            </a:r>
          </a:p>
          <a:p>
            <a:r>
              <a:rPr lang="en-US" sz="2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ook Antiqua" panose="02040602050305030304" pitchFamily="18" charset="0"/>
              </a:rPr>
              <a:t>And efficient solution for managing employee salary information.</a:t>
            </a:r>
          </a:p>
          <a:p>
            <a:r>
              <a:rPr lang="en-US" sz="2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ook Antiqua" panose="02040602050305030304" pitchFamily="18" charset="0"/>
              </a:rPr>
              <a:t>It saves time, improves accuracy, and helps maintain records easily.</a:t>
            </a:r>
          </a:p>
          <a:p>
            <a:r>
              <a:rPr lang="en-US" sz="2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ook Antiqua" panose="02040602050305030304" pitchFamily="18" charset="0"/>
              </a:rPr>
              <a:t>This project helped us understand C programming</a:t>
            </a:r>
          </a:p>
          <a:p>
            <a:r>
              <a:rPr lang="en-US" sz="2400" b="1" dirty="0" smtClean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Book Antiqua" panose="02040602050305030304" pitchFamily="18" charset="0"/>
              </a:rPr>
              <a:t>Can be applied to real-world problems..”</a:t>
            </a:r>
          </a:p>
          <a:p>
            <a:endParaRPr lang="en-US" sz="2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654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t="-21000" r="-1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1586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326</TotalTime>
  <Words>397</Words>
  <Application>Microsoft Office PowerPoint</Application>
  <PresentationFormat>Widescreen</PresentationFormat>
  <Paragraphs>67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8" baseType="lpstr">
      <vt:lpstr>Algerian</vt:lpstr>
      <vt:lpstr>Arial</vt:lpstr>
      <vt:lpstr>Artifakt Element Medium</vt:lpstr>
      <vt:lpstr>Book Antiqua</vt:lpstr>
      <vt:lpstr>Bookman Old Style</vt:lpstr>
      <vt:lpstr>Calibri</vt:lpstr>
      <vt:lpstr>Calibri Light</vt:lpstr>
      <vt:lpstr>Californian FB</vt:lpstr>
      <vt:lpstr>Century Schoolbook</vt:lpstr>
      <vt:lpstr>Cooper Black</vt:lpstr>
      <vt:lpstr>Copperplate Gothic Bold</vt:lpstr>
      <vt:lpstr>Footlight MT Light</vt:lpstr>
      <vt:lpstr>Imprint MT Shadow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EXISTING METHODOLOGY</vt:lpstr>
      <vt:lpstr>DRAWBACKS OF EXISTING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Acer</cp:lastModifiedBy>
  <cp:revision>35</cp:revision>
  <dcterms:created xsi:type="dcterms:W3CDTF">2025-11-30T05:43:23Z</dcterms:created>
  <dcterms:modified xsi:type="dcterms:W3CDTF">2025-11-30T17:44:48Z</dcterms:modified>
</cp:coreProperties>
</file>